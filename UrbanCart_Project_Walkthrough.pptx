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1632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2468880"/>
            <a:ext cx="1051560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Title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22960" y="3886200"/>
            <a:ext cx="960120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rgbClr val="6FB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800" dirty="0">
                <a:solidFill>
                  <a:srgbClr val="6FB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Subtitle</a:t>
            </a: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1632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822960" y="2651760"/>
            <a:ext cx="91440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4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4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KICKER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822960" y="3063240"/>
            <a:ext cx="1005840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Title</a:t>
            </a:r>
            <a:endParaRPr lang="en-US" sz="36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EEF3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0515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r>
              <a:rPr lang="en-US" sz="28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Title</a:t>
            </a:r>
            <a:endParaRPr lang="en-US" sz="2800" dirty="0"/>
          </a:p>
        </p:txBody>
      </p:sp>
      <p:sp>
        <p:nvSpPr>
          <p:cNvPr id="3" name="Text 0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UrbanCart Analytics — Project Walkthrough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11521440" y="6473952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7B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7B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2468880"/>
            <a:ext cx="10515600" cy="14630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UrbanCart Analytics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22960" y="3886200"/>
            <a:ext cx="9601200" cy="8229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6FB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data project: Excel cleaning → SQL analysis → Power BI dashboard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6E8C"/>
          </a:solidFill>
          <a:ln/>
        </p:spPr>
      </p:sp>
      <p:sp>
        <p:nvSpPr>
          <p:cNvPr id="5" name="Shape 3"/>
          <p:cNvSpPr/>
          <p:nvPr/>
        </p:nvSpPr>
        <p:spPr>
          <a:xfrm>
            <a:off x="8778240" y="4663440"/>
            <a:ext cx="502920" cy="822960"/>
          </a:xfrm>
          <a:prstGeom prst="roundRect">
            <a:avLst>
              <a:gd name="adj" fmla="val 7273"/>
            </a:avLst>
          </a:prstGeom>
          <a:solidFill>
            <a:srgbClr val="0F6E8C"/>
          </a:solidFill>
          <a:ln/>
        </p:spPr>
      </p:sp>
      <p:sp>
        <p:nvSpPr>
          <p:cNvPr id="6" name="Shape 4"/>
          <p:cNvSpPr/>
          <p:nvPr/>
        </p:nvSpPr>
        <p:spPr>
          <a:xfrm>
            <a:off x="9436608" y="4023360"/>
            <a:ext cx="502920" cy="1463040"/>
          </a:xfrm>
          <a:prstGeom prst="roundRect">
            <a:avLst>
              <a:gd name="adj" fmla="val 7273"/>
            </a:avLst>
          </a:prstGeom>
          <a:solidFill>
            <a:srgbClr val="F2A541"/>
          </a:solidFill>
          <a:ln/>
        </p:spPr>
      </p:sp>
      <p:sp>
        <p:nvSpPr>
          <p:cNvPr id="7" name="Shape 5"/>
          <p:cNvSpPr/>
          <p:nvPr/>
        </p:nvSpPr>
        <p:spPr>
          <a:xfrm>
            <a:off x="10094976" y="4389120"/>
            <a:ext cx="502920" cy="1097280"/>
          </a:xfrm>
          <a:prstGeom prst="roundRect">
            <a:avLst>
              <a:gd name="adj" fmla="val 7273"/>
            </a:avLst>
          </a:prstGeom>
          <a:solidFill>
            <a:srgbClr val="0F6E8C"/>
          </a:solidFill>
          <a:ln/>
        </p:spPr>
      </p:sp>
      <p:sp>
        <p:nvSpPr>
          <p:cNvPr id="8" name="Shape 6"/>
          <p:cNvSpPr/>
          <p:nvPr/>
        </p:nvSpPr>
        <p:spPr>
          <a:xfrm>
            <a:off x="10753344" y="3566160"/>
            <a:ext cx="502920" cy="1920240"/>
          </a:xfrm>
          <a:prstGeom prst="roundRect">
            <a:avLst>
              <a:gd name="adj" fmla="val 7273"/>
            </a:avLst>
          </a:prstGeom>
          <a:solidFill>
            <a:srgbClr val="F2A541"/>
          </a:solidFill>
          <a:ln/>
        </p:spPr>
      </p:sp>
      <p:sp>
        <p:nvSpPr>
          <p:cNvPr id="9" name="Shape 7"/>
          <p:cNvSpPr/>
          <p:nvPr/>
        </p:nvSpPr>
        <p:spPr>
          <a:xfrm>
            <a:off x="11411712" y="3931920"/>
            <a:ext cx="502920" cy="1554480"/>
          </a:xfrm>
          <a:prstGeom prst="roundRect">
            <a:avLst>
              <a:gd name="adj" fmla="val 7273"/>
            </a:avLst>
          </a:prstGeom>
          <a:solidFill>
            <a:srgbClr val="0F6E8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22960" y="598932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FB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portfolio-ready analytics project — built for a resume, modeled on real industry workflow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0515600" cy="7315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project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7223760" cy="475488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A41">
                <a:alpha val="18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868680" y="1600200"/>
            <a:ext cx="658368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6324F"/>
                </a:solidFill>
              </a:rPr>
              <a:t>The scenario
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</a:rPr>
              <a:t>UrbanCart, a fictional Indian omni-channel retailer, exports raw order data straight from its systems — messy, inconsistent, full of the data-quality issues analysts meet on day one of a real job.
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6324F"/>
                </a:solidFill>
              </a:rPr>
              <a:t>The ask
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</a:rPr>
              <a:t>Leadership can't answer basic questions — where is revenue growing, which channels and regions perform best, where are we losing money to returns — without someone cleaning, modeling, and visualizing the data first.
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6324F"/>
                </a:solidFill>
              </a:rPr>
              <a:t>Why it matters for a resume
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</a:rPr>
              <a:t>This single project demonstrates the full analyst toolchain — Excel, SQL, and Power BI — in one coherent, explainable story instead of three disconnected exercises.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092440" y="1371600"/>
            <a:ext cx="3566160" cy="1417320"/>
          </a:xfrm>
          <a:prstGeom prst="roundRect">
            <a:avLst>
              <a:gd name="adj" fmla="val 5161"/>
            </a:avLst>
          </a:prstGeom>
          <a:solidFill>
            <a:srgbClr val="16324F"/>
          </a:solidFill>
          <a:ln/>
          <a:effectLst>
            <a:outerShdw sx="100000" sy="100000" kx="0" ky="0" algn="bl" rotWithShape="0" blurRad="76200" dist="25400" dir="5400000">
              <a:srgbClr val="1B2A41">
                <a:alpha val="1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321040" y="1481328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34.6K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8321040" y="22402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across 5 tables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092440" y="3063240"/>
            <a:ext cx="3566160" cy="1417320"/>
          </a:xfrm>
          <a:prstGeom prst="roundRect">
            <a:avLst>
              <a:gd name="adj" fmla="val 5161"/>
            </a:avLst>
          </a:prstGeom>
          <a:solidFill>
            <a:srgbClr val="16324F"/>
          </a:solidFill>
          <a:ln/>
          <a:effectLst>
            <a:outerShdw sx="100000" sy="100000" kx="0" ky="0" algn="bl" rotWithShape="0" blurRad="76200" dist="25400" dir="5400000">
              <a:srgbClr val="1B2A41">
                <a:alpha val="1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8321040" y="3172968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200" dirty="0"/>
          </a:p>
        </p:txBody>
      </p:sp>
      <p:sp>
        <p:nvSpPr>
          <p:cNvPr id="10" name="Text 8"/>
          <p:cNvSpPr txBox="1"/>
          <p:nvPr/>
        </p:nvSpPr>
        <p:spPr>
          <a:xfrm>
            <a:off x="8321040" y="39319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Excel, SQL, Power BI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092440" y="4754880"/>
            <a:ext cx="3566160" cy="1417320"/>
          </a:xfrm>
          <a:prstGeom prst="roundRect">
            <a:avLst>
              <a:gd name="adj" fmla="val 5161"/>
            </a:avLst>
          </a:prstGeom>
          <a:solidFill>
            <a:srgbClr val="16324F"/>
          </a:solidFill>
          <a:ln/>
          <a:effectLst>
            <a:outerShdw sx="100000" sy="100000" kx="0" ky="0" algn="bl" rotWithShape="0" blurRad="76200" dist="25400" dir="5400000">
              <a:srgbClr val="1B2A41">
                <a:alpha val="1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8321040" y="4864608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4+</a:t>
            </a:r>
            <a:endParaRPr lang="en-US" sz="3200" dirty="0"/>
          </a:p>
        </p:txBody>
      </p:sp>
      <p:sp>
        <p:nvSpPr>
          <p:cNvPr id="13" name="Text 11"/>
          <p:cNvSpPr txBox="1"/>
          <p:nvPr/>
        </p:nvSpPr>
        <p:spPr>
          <a:xfrm>
            <a:off x="8321040" y="56235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weeks, portfolio to interview-ready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7B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822960" y="2651760"/>
            <a:ext cx="9144000" cy="4572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 · THE DATASET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822960" y="3063240"/>
            <a:ext cx="10058400" cy="13716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workbook. Five related tables.</a:t>
            </a:r>
            <a:endParaRPr lang="en-US" sz="3600" dirty="0"/>
          </a:p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~34,600 messy rows.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2A541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0515600" cy="7315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structure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508760"/>
            <a:ext cx="2176272" cy="4480560"/>
          </a:xfrm>
          <a:prstGeom prst="roundRect">
            <a:avLst>
              <a:gd name="adj" fmla="val 33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A41">
                <a:alpha val="1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13232" y="1737360"/>
            <a:ext cx="1847088" cy="457200"/>
          </a:xfrm>
          <a:prstGeom prst="roundRect">
            <a:avLst>
              <a:gd name="adj" fmla="val 12000"/>
            </a:avLst>
          </a:prstGeom>
          <a:solidFill>
            <a:srgbClr val="0F6E8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13232" y="1737360"/>
            <a:ext cx="184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713232" y="2331720"/>
            <a:ext cx="184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13232" y="2743200"/>
            <a:ext cx="1847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~3,060 rows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3108960"/>
            <a:ext cx="1847088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Profile, signup, segment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834640" y="1508760"/>
            <a:ext cx="2176272" cy="4480560"/>
          </a:xfrm>
          <a:prstGeom prst="roundRect">
            <a:avLst>
              <a:gd name="adj" fmla="val 33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A41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999232" y="1737360"/>
            <a:ext cx="1847088" cy="457200"/>
          </a:xfrm>
          <a:prstGeom prst="roundRect">
            <a:avLst>
              <a:gd name="adj" fmla="val 12000"/>
            </a:avLst>
          </a:prstGeom>
          <a:solidFill>
            <a:srgbClr val="0F6E8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2999232" y="1737360"/>
            <a:ext cx="184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2999232" y="2331720"/>
            <a:ext cx="184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Products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2999232" y="2743200"/>
            <a:ext cx="1847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~161 rows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2999232" y="3108960"/>
            <a:ext cx="1847088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Category, pricing, stock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120640" y="1508760"/>
            <a:ext cx="2176272" cy="4480560"/>
          </a:xfrm>
          <a:prstGeom prst="roundRect">
            <a:avLst>
              <a:gd name="adj" fmla="val 33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A41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285232" y="1737360"/>
            <a:ext cx="1847088" cy="457200"/>
          </a:xfrm>
          <a:prstGeom prst="roundRect">
            <a:avLst>
              <a:gd name="adj" fmla="val 12000"/>
            </a:avLst>
          </a:prstGeom>
          <a:solidFill>
            <a:srgbClr val="0F6E8C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285232" y="1737360"/>
            <a:ext cx="184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5285232" y="2331720"/>
            <a:ext cx="184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Orders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5285232" y="2743200"/>
            <a:ext cx="1847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10,000 rows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5285232" y="3108960"/>
            <a:ext cx="1847088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Channel, payment, status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406640" y="1508760"/>
            <a:ext cx="2176272" cy="4480560"/>
          </a:xfrm>
          <a:prstGeom prst="roundRect">
            <a:avLst>
              <a:gd name="adj" fmla="val 33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A41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571232" y="1737360"/>
            <a:ext cx="1847088" cy="457200"/>
          </a:xfrm>
          <a:prstGeom prst="roundRect">
            <a:avLst>
              <a:gd name="adj" fmla="val 12000"/>
            </a:avLst>
          </a:prstGeom>
          <a:solidFill>
            <a:srgbClr val="0F6E8C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571232" y="1737360"/>
            <a:ext cx="184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7571232" y="2331720"/>
            <a:ext cx="184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Order_Items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7571232" y="2743200"/>
            <a:ext cx="1847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~20,640 rows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7571232" y="3108960"/>
            <a:ext cx="1847088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items, qty, discount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9692640" y="1508760"/>
            <a:ext cx="2176272" cy="4480560"/>
          </a:xfrm>
          <a:prstGeom prst="roundRect">
            <a:avLst>
              <a:gd name="adj" fmla="val 33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A41">
                <a:alpha val="1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9857232" y="1737360"/>
            <a:ext cx="1847088" cy="457200"/>
          </a:xfrm>
          <a:prstGeom prst="roundRect">
            <a:avLst>
              <a:gd name="adj" fmla="val 12000"/>
            </a:avLst>
          </a:prstGeom>
          <a:solidFill>
            <a:srgbClr val="0F6E8C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857232" y="1737360"/>
            <a:ext cx="184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30" name="Text 28"/>
          <p:cNvSpPr txBox="1"/>
          <p:nvPr/>
        </p:nvSpPr>
        <p:spPr>
          <a:xfrm>
            <a:off x="9857232" y="2331720"/>
            <a:ext cx="184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Returns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9857232" y="2743200"/>
            <a:ext cx="1847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~793 rows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9857232" y="3108960"/>
            <a:ext cx="1847088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Reason, refund amount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548640" y="61722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A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issues to find &amp; fix: mixed date formats · inconsistent casing · null markers (NA / N/A / - / null) · duplicate rows · city typos · text-formatted prices · bad quantities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7B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822960" y="2651760"/>
            <a:ext cx="9144000" cy="4572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· EXCEL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822960" y="3063240"/>
            <a:ext cx="10058400" cy="13716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 the data.</a:t>
            </a:r>
            <a:endParaRPr lang="en-US" sz="3600" dirty="0"/>
          </a:p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 every decision.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FB3A8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0515600" cy="7315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Excel: data cleaning approach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440680" cy="1536192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A41">
                <a:alpha val="1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77240" y="1691640"/>
            <a:ext cx="502920" cy="502920"/>
          </a:xfrm>
          <a:prstGeom prst="ellipse">
            <a:avLst/>
          </a:prstGeom>
          <a:solidFill>
            <a:srgbClr val="0F6E8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463040" y="1664208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Standardize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2057400"/>
            <a:ext cx="4343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Dates to ISO format, text casing, whitespace trimmed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17920" y="1463040"/>
            <a:ext cx="5440680" cy="1536192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A41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46520" y="1691640"/>
            <a:ext cx="502920" cy="502920"/>
          </a:xfrm>
          <a:prstGeom prst="ellipse">
            <a:avLst/>
          </a:prstGeom>
          <a:solidFill>
            <a:srgbClr val="0F6E8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4652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7132320" y="1664208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Deduplicate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7132320" y="2057400"/>
            <a:ext cx="4343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exact duplicate rows in Customers &amp; Order_Items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3182112"/>
            <a:ext cx="5440680" cy="1536192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A41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77240" y="3410712"/>
            <a:ext cx="502920" cy="502920"/>
          </a:xfrm>
          <a:prstGeom prst="ellipse">
            <a:avLst/>
          </a:prstGeom>
          <a:solidFill>
            <a:srgbClr val="0F6E8C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77240" y="34107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463040" y="3383280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Resolve nulls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463040" y="3776472"/>
            <a:ext cx="4343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Unify "NA" / "N/A" / "-" / blank into one null convention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217920" y="3182112"/>
            <a:ext cx="5440680" cy="1536192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A41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446520" y="3410712"/>
            <a:ext cx="502920" cy="502920"/>
          </a:xfrm>
          <a:prstGeom prst="ellipse">
            <a:avLst/>
          </a:prstGeom>
          <a:solidFill>
            <a:srgbClr val="0F6E8C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46520" y="34107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7132320" y="3383280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Fix typos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7132320" y="3776472"/>
            <a:ext cx="4343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name variants mapped to one canonical spelling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48640" y="4901184"/>
            <a:ext cx="5440680" cy="1536192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A41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77240" y="5129784"/>
            <a:ext cx="502920" cy="502920"/>
          </a:xfrm>
          <a:prstGeom prst="ellipse">
            <a:avLst/>
          </a:prstGeom>
          <a:solidFill>
            <a:srgbClr val="0F6E8C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77240" y="51297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1463040" y="5102352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Convert types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1463040" y="5495544"/>
            <a:ext cx="4343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Text-formatted prices → numeric; discounts → consistent %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217920" y="4901184"/>
            <a:ext cx="5440680" cy="1536192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A41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446520" y="5129784"/>
            <a:ext cx="502920" cy="502920"/>
          </a:xfrm>
          <a:prstGeom prst="ellipse">
            <a:avLst/>
          </a:prstGeom>
          <a:solidFill>
            <a:srgbClr val="0F6E8C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446520" y="51297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7132320" y="5102352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Recompute &amp; flag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7132320" y="5495544"/>
            <a:ext cx="4343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Rebuild missing LineTotal; flag (don't delete) outlier quantities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7B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822960" y="2651760"/>
            <a:ext cx="9144000" cy="4572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· SQL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822960" y="3063240"/>
            <a:ext cx="10058400" cy="13716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Turn clean tables</a:t>
            </a:r>
            <a:endParaRPr lang="en-US" sz="3600" dirty="0"/>
          </a:p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into business answers.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86AB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0515600" cy="7315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SQL: business questions to answer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44068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A41">
                <a:alpha val="1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199632" y="1463040"/>
            <a:ext cx="544068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A41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68680" y="16916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6E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Volume &amp; growth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194560"/>
            <a:ext cx="48463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350" dirty="0">
                <a:solidFill>
                  <a:srgbClr val="1B2A41"/>
                </a:solidFill>
              </a:rPr>
              <a:t>Revenue trend by month / quarter / year</a:t>
            </a:r>
            <a:endParaRPr lang="en-US" sz="135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350" dirty="0">
                <a:solidFill>
                  <a:srgbClr val="1B2A41"/>
                </a:solidFill>
              </a:rPr>
              <a:t>Revenue &amp; orders by Region, State, City</a:t>
            </a:r>
            <a:endParaRPr lang="en-US" sz="135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350" dirty="0">
                <a:solidFill>
                  <a:srgbClr val="1B2A41"/>
                </a:solidFill>
              </a:rPr>
              <a:t>Top categories, sub-categories, products</a:t>
            </a:r>
            <a:endParaRPr lang="en-US" sz="135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350" dirty="0">
                <a:solidFill>
                  <a:srgbClr val="1B2A41"/>
                </a:solidFill>
              </a:rPr>
              <a:t>Revenue by Channel and Payment Mode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6519672" y="16916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6E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Customers &amp; returns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519672" y="2194560"/>
            <a:ext cx="48463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350" dirty="0">
                <a:solidFill>
                  <a:srgbClr val="1B2A41"/>
                </a:solidFill>
              </a:rPr>
              <a:t>Avg order value &amp; frequency by segment</a:t>
            </a:r>
            <a:endParaRPr lang="en-US" sz="135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350" dirty="0">
                <a:solidFill>
                  <a:srgbClr val="1B2A41"/>
                </a:solidFill>
              </a:rPr>
              <a:t>Return rate by category &amp; top reasons</a:t>
            </a:r>
            <a:endParaRPr lang="en-US" sz="135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350" dirty="0">
                <a:solidFill>
                  <a:srgbClr val="1B2A41"/>
                </a:solidFill>
              </a:rPr>
              <a:t>Repeat-customer rate (2+ orders)</a:t>
            </a:r>
            <a:endParaRPr lang="en-US" sz="135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350" dirty="0">
                <a:solidFill>
                  <a:srgbClr val="1B2A41"/>
                </a:solidFill>
              </a:rPr>
              <a:t>Avg delivery time by region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1722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A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Plus: window functions for running totals &amp; MoM % change · reusable SQL views that feed Power BI directly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7B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822960" y="2651760"/>
            <a:ext cx="9144000" cy="4572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· POWER BI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822960" y="3063240"/>
            <a:ext cx="10058400" cy="13716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it. Measure it.</a:t>
            </a:r>
            <a:endParaRPr lang="en-US" sz="3600" dirty="0"/>
          </a:p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Make it tell a story.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2A541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0515600" cy="7315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BI: the data model (star schema)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480560" y="2834640"/>
            <a:ext cx="3200400" cy="1188720"/>
          </a:xfrm>
          <a:prstGeom prst="roundRect">
            <a:avLst>
              <a:gd name="adj" fmla="val 6154"/>
            </a:avLst>
          </a:prstGeom>
          <a:solidFill>
            <a:srgbClr val="16324F"/>
          </a:solidFill>
          <a:ln/>
          <a:effectLst>
            <a:outerShdw sx="100000" sy="100000" kx="0" ky="0" algn="bl" rotWithShape="0" blurRad="76200" dist="25400" dir="5400000">
              <a:srgbClr val="1B2A41">
                <a:alpha val="18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4480560" y="2834640"/>
            <a:ext cx="320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Orders +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Order_Items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480560" y="254203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28346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A41">
                <a:alpha val="18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548640" y="1417320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965960" y="1920240"/>
            <a:ext cx="4114800" cy="1508760"/>
          </a:xfrm>
          <a:prstGeom prst="line">
            <a:avLst/>
          </a:prstGeom>
          <a:noFill/>
          <a:ln w="15875">
            <a:solidFill>
              <a:srgbClr val="9AA7B0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8412480" y="1417320"/>
            <a:ext cx="28346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A41">
                <a:alpha val="1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8412480" y="1417320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080760" y="1920240"/>
            <a:ext cx="3749040" cy="1508760"/>
          </a:xfrm>
          <a:prstGeom prst="line">
            <a:avLst/>
          </a:prstGeom>
          <a:noFill/>
          <a:ln w="15875">
            <a:solidFill>
              <a:srgbClr val="9AA7B0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548640" y="4343400"/>
            <a:ext cx="28346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A41">
                <a:alpha val="18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548640" y="4343400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1965960" y="3429000"/>
            <a:ext cx="4114800" cy="1417320"/>
          </a:xfrm>
          <a:prstGeom prst="line">
            <a:avLst/>
          </a:prstGeom>
          <a:noFill/>
          <a:ln w="15875">
            <a:solidFill>
              <a:srgbClr val="9AA7B0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8412480" y="4343400"/>
            <a:ext cx="28346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A41">
                <a:alpha val="18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8412480" y="4343400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Region / Geo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080760" y="3429000"/>
            <a:ext cx="3749040" cy="1417320"/>
          </a:xfrm>
          <a:prstGeom prst="line">
            <a:avLst/>
          </a:prstGeom>
          <a:noFill/>
          <a:ln w="15875">
            <a:solidFill>
              <a:srgbClr val="9AA7B0"/>
            </a:solidFill>
            <a:prstDash val="dash"/>
          </a:ln>
        </p:spPr>
      </p:sp>
      <p:sp>
        <p:nvSpPr>
          <p:cNvPr id="18" name="Text 16"/>
          <p:cNvSpPr txBox="1"/>
          <p:nvPr/>
        </p:nvSpPr>
        <p:spPr>
          <a:xfrm>
            <a:off x="548640" y="61722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A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 measures: Total Revenue · Total Orders · AOV · Return Rate · YoY / MoM Growth · Top Category Share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7B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0515600" cy="7315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BI: dashboard pages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2724912" cy="4297680"/>
          </a:xfrm>
          <a:prstGeom prst="roundRect">
            <a:avLst>
              <a:gd name="adj" fmla="val 2685"/>
            </a:avLst>
          </a:prstGeom>
          <a:solidFill>
            <a:srgbClr val="16324F"/>
          </a:solidFill>
          <a:ln/>
          <a:effectLst>
            <a:outerShdw sx="100000" sy="100000" kx="0" ky="0" algn="bl" rotWithShape="0" blurRad="76200" dist="25400" dir="5400000">
              <a:srgbClr val="1B2A41">
                <a:alpha val="18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731520" y="1783080"/>
            <a:ext cx="2359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423160"/>
            <a:ext cx="23591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Overview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108960"/>
            <a:ext cx="235915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E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headline cards, revenue trend, channel split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410712" y="1554480"/>
            <a:ext cx="2724912" cy="4297680"/>
          </a:xfrm>
          <a:prstGeom prst="roundRect">
            <a:avLst>
              <a:gd name="adj" fmla="val 26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A41">
                <a:alpha val="1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3593592" y="1783080"/>
            <a:ext cx="2359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6E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3593592" y="2423160"/>
            <a:ext cx="23591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Sales &amp; Channel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3593592" y="3108960"/>
            <a:ext cx="235915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Category/product performance, Online vs Store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272784" y="1554480"/>
            <a:ext cx="2724912" cy="4297680"/>
          </a:xfrm>
          <a:prstGeom prst="roundRect">
            <a:avLst>
              <a:gd name="adj" fmla="val 26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A41">
                <a:alpha val="1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6455664" y="1783080"/>
            <a:ext cx="2359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6E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6455664" y="2423160"/>
            <a:ext cx="23591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Regional Analysis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455664" y="3108960"/>
            <a:ext cx="235915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view, state/city drill-down, regional KPIs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9134856" y="1554480"/>
            <a:ext cx="2724912" cy="4297680"/>
          </a:xfrm>
          <a:prstGeom prst="roundRect">
            <a:avLst>
              <a:gd name="adj" fmla="val 26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A41">
                <a:alpha val="18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9317736" y="1783080"/>
            <a:ext cx="2359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6E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600" dirty="0"/>
          </a:p>
        </p:txBody>
      </p:sp>
      <p:sp>
        <p:nvSpPr>
          <p:cNvPr id="17" name="Text 15"/>
          <p:cNvSpPr txBox="1"/>
          <p:nvPr/>
        </p:nvSpPr>
        <p:spPr>
          <a:xfrm>
            <a:off x="9317736" y="2423160"/>
            <a:ext cx="23591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Returns &amp; Customers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9317736" y="3108960"/>
            <a:ext cx="235915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rate &amp; reasons, segment performance, retention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60350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A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slicers on every page: Date Range · Region · Category · Channel · Customer Segment  —  plus drill-through from KPI to detail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7B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0515600" cy="7315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reference: design direction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11091672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A41">
                <a:alpha val="18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868680" y="169164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companion interactive HTML reference (see delivered files) mirrors the Power BI build: KPI header strip, revenue trend with region/channel filters, category breakdown, and a returns panel — built with the exact visual language to replicate in Power BI Desktop: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68680" y="2697480"/>
            <a:ext cx="384048" cy="384048"/>
          </a:xfrm>
          <a:prstGeom prst="ellipse">
            <a:avLst/>
          </a:prstGeom>
          <a:solidFill>
            <a:srgbClr val="0F6E8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2697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2670048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324F"/>
                </a:solidFill>
              </a:rPr>
              <a:t>Dark KPI header  </a:t>
            </a:r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</a:rPr>
              <a:t>high-contrast strip for the numbers leadership scans first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68680" y="3355848"/>
            <a:ext cx="384048" cy="384048"/>
          </a:xfrm>
          <a:prstGeom prst="ellipse">
            <a:avLst/>
          </a:prstGeom>
          <a:solidFill>
            <a:srgbClr val="0F6E8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68680" y="33558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417320" y="3328416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324F"/>
                </a:solidFill>
              </a:rPr>
              <a:t>One accent color  </a:t>
            </a:r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</a:rPr>
              <a:t>teal-blue for emphasis; everything else stays neutral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68680" y="4014216"/>
            <a:ext cx="384048" cy="384048"/>
          </a:xfrm>
          <a:prstGeom prst="ellipse">
            <a:avLst/>
          </a:prstGeom>
          <a:solidFill>
            <a:srgbClr val="0F6E8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68680" y="40142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417320" y="3986784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324F"/>
                </a:solidFill>
              </a:rPr>
              <a:t>Consistent chart style  </a:t>
            </a:r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</a:rPr>
              <a:t>same gridlines, fonts, and tooltip pattern throughout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68680" y="4672584"/>
            <a:ext cx="384048" cy="384048"/>
          </a:xfrm>
          <a:prstGeom prst="ellipse">
            <a:avLst/>
          </a:prstGeom>
          <a:solidFill>
            <a:srgbClr val="0F6E8C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68680" y="46725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417320" y="4645152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324F"/>
                </a:solidFill>
              </a:rPr>
              <a:t>Real interactivity  </a:t>
            </a:r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</a:rPr>
              <a:t>region/channel/date filters that actually redraw the charts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7B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0515600" cy="7315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Suggested timeline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914400" y="3291840"/>
            <a:ext cx="10332720" cy="0"/>
          </a:xfrm>
          <a:prstGeom prst="line">
            <a:avLst/>
          </a:prstGeom>
          <a:noFill/>
          <a:ln w="25400">
            <a:solidFill>
              <a:srgbClr val="9AA7B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04822" y="3090672"/>
            <a:ext cx="402336" cy="402336"/>
          </a:xfrm>
          <a:prstGeom prst="ellipse">
            <a:avLst/>
          </a:prstGeom>
          <a:solidFill>
            <a:srgbClr val="0F6E8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200150" y="22860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 1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200150" y="3703320"/>
            <a:ext cx="201168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A41">
                <a:alpha val="18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1291590" y="384048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cleaning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88002" y="3090672"/>
            <a:ext cx="402336" cy="402336"/>
          </a:xfrm>
          <a:prstGeom prst="ellipse">
            <a:avLst/>
          </a:prstGeom>
          <a:solidFill>
            <a:srgbClr val="2E86A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83330" y="22860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 2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783330" y="3703320"/>
            <a:ext cx="201168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A41">
                <a:alpha val="1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3874770" y="384048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analysis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171182" y="3090672"/>
            <a:ext cx="402336" cy="402336"/>
          </a:xfrm>
          <a:prstGeom prst="ellipse">
            <a:avLst/>
          </a:prstGeom>
          <a:solidFill>
            <a:srgbClr val="6FB3A8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366510" y="22860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 3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366510" y="3703320"/>
            <a:ext cx="201168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A41">
                <a:alpha val="18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6457950" y="384048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build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9754362" y="3090672"/>
            <a:ext cx="402336" cy="402336"/>
          </a:xfrm>
          <a:prstGeom prst="ellipse">
            <a:avLst/>
          </a:prstGeom>
          <a:solidFill>
            <a:srgbClr val="F2A54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949690" y="22860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 4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949690" y="3703320"/>
            <a:ext cx="201168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A41">
                <a:alpha val="18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9041130" y="384048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Polish &amp; present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60350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A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Assumes part-time effort (evenings/weekends). Compress to 2 weeks full-time, or extend for deeper SQL/DAX practice.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7B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0515600" cy="7315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to say on your resume &amp; in interviews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11091672" cy="1920240"/>
          </a:xfrm>
          <a:prstGeom prst="roundRect">
            <a:avLst>
              <a:gd name="adj" fmla="val 3810"/>
            </a:avLst>
          </a:prstGeom>
          <a:solidFill>
            <a:srgbClr val="16324F"/>
          </a:solidFill>
          <a:ln/>
          <a:effectLst>
            <a:outerShdw sx="100000" sy="100000" kx="0" ky="0" algn="bl" rotWithShape="0" blurRad="76200" dist="25400" dir="5400000">
              <a:srgbClr val="1B2A41">
                <a:alpha val="18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868680" y="1691640"/>
            <a:ext cx="10424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“Cleaned and modeled a 34K-row, 5-table e-commerce dataset in Excel; built a SQL analysis layer answering 8+ business questions; and designed an interactive Power BI dashboard with a star-schema model and 5+ DAX measures — cutting ad-hoc reporting time and surfacing a hidden regional return-rate spike.”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68680" y="3749040"/>
            <a:ext cx="384048" cy="384048"/>
          </a:xfrm>
          <a:prstGeom prst="ellipse">
            <a:avLst/>
          </a:prstGeom>
          <a:solidFill>
            <a:srgbClr val="0F6E8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3749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3721608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 through one messy-data example end to end: found it, decided how to fix it, why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868680" y="4370832"/>
            <a:ext cx="384048" cy="384048"/>
          </a:xfrm>
          <a:prstGeom prst="ellipse">
            <a:avLst/>
          </a:prstGeom>
          <a:solidFill>
            <a:srgbClr val="0F6E8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68680" y="43708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417320" y="4343400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one SQL query with a window function and what business question it answers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868680" y="4992624"/>
            <a:ext cx="384048" cy="384048"/>
          </a:xfrm>
          <a:prstGeom prst="ellipse">
            <a:avLst/>
          </a:prstGeom>
          <a:solidFill>
            <a:srgbClr val="0F6E8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68680" y="49926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417320" y="4965192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one DAX measure and why it's built that way, not just what it shows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868680" y="5614416"/>
            <a:ext cx="384048" cy="384048"/>
          </a:xfrm>
          <a:prstGeom prst="ellipse">
            <a:avLst/>
          </a:prstGeom>
          <a:solidFill>
            <a:srgbClr val="0F6E8C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68680" y="56144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417320" y="5586984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one real insight the dashboard surfaced and what action it suggests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7B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822960" y="2651760"/>
            <a:ext cx="9144000" cy="4572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822960" y="3063240"/>
            <a:ext cx="10058400" cy="13716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Raw dataset · BRD · this deck ·</a:t>
            </a:r>
            <a:endParaRPr lang="en-US" sz="3600" dirty="0"/>
          </a:p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reference — all included.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6E8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4754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FB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it. Explain it. Ship it.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UrbanCart Analytics">
  <a:themeElements>
    <a:clrScheme name="UrbanCart Analytics">
      <a:dk1>
        <a:srgbClr val="1B2A41"/>
      </a:dk1>
      <a:lt1>
        <a:srgbClr val="FFFFFF"/>
      </a:lt1>
      <a:dk2>
        <a:srgbClr val="16324F"/>
      </a:dk2>
      <a:lt2>
        <a:srgbClr val="EEF3F8"/>
      </a:lt2>
      <a:accent1>
        <a:srgbClr val="0F6E8C"/>
      </a:accent1>
      <a:accent2>
        <a:srgbClr val="F2A541"/>
      </a:accent2>
      <a:accent3>
        <a:srgbClr val="2E86AB"/>
      </a:accent3>
      <a:accent4>
        <a:srgbClr val="6FB3A8"/>
      </a:accent4>
      <a:accent5>
        <a:srgbClr val="9AA7B0"/>
      </a:accent5>
      <a:accent6>
        <a:srgbClr val="C0392B"/>
      </a:accent6>
      <a:hlink>
        <a:srgbClr val="0F6E8C"/>
      </a:hlink>
      <a:folHlink>
        <a:srgbClr val="6FB3A8"/>
      </a:folHlink>
    </a:clrScheme>
    <a:fontScheme name="UrbanCart Analytics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Portfolio Project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UrbanCart Analytics - Project Walkthrough</dc:title>
  <dc:subject>PptxGenJS Presentation</dc:subject>
  <dc:creator>UrbanCart Analytics Project</dc:creator>
  <cp:lastModifiedBy>UrbanCart Analytics Project</cp:lastModifiedBy>
  <cp:revision>1</cp:revision>
  <dcterms:created xsi:type="dcterms:W3CDTF">2026-10-10T12:31:46Z</dcterms:created>
  <dcterms:modified xsi:type="dcterms:W3CDTF">2026-10-10T12:31:46Z</dcterms:modified>
</cp:coreProperties>
</file>